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261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71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046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99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29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10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63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80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53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0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0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BB7D874-59DE-4C7E-90AF-F194131EFB8D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F32212B-EA75-4F59-ADD6-1854B28B6F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54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B9376-5716-242D-36C1-24E922179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5562"/>
            <a:ext cx="8991600" cy="2767102"/>
          </a:xfrm>
        </p:spPr>
        <p:txBody>
          <a:bodyPr>
            <a:normAutofit/>
          </a:bodyPr>
          <a:lstStyle/>
          <a:p>
            <a:r>
              <a:rPr lang="ru-RU" dirty="0"/>
              <a:t>Разработка Информационной системы «аренда недвижимости»</a:t>
            </a:r>
            <a:br>
              <a:rPr lang="ru-RU" dirty="0"/>
            </a:br>
            <a:r>
              <a:rPr lang="ru-RU" dirty="0"/>
              <a:t>глава 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44DF9E-E5CB-94E4-58A7-DCFA44E04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Магомедов Али </a:t>
            </a:r>
            <a:r>
              <a:rPr lang="ru-RU" dirty="0" err="1"/>
              <a:t>Арсенович</a:t>
            </a:r>
            <a:r>
              <a:rPr lang="ru-RU" dirty="0"/>
              <a:t> </a:t>
            </a:r>
          </a:p>
          <a:p>
            <a:pPr algn="l"/>
            <a:r>
              <a:rPr lang="ru-RU" dirty="0"/>
              <a:t>09.02.07 Информационные Системы и Программирование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218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429BC-30A1-B079-2356-1FF600D6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Разработка Информационной системы «аренда недвижимости»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D88726-8729-BC28-BD5F-3D127F18B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Актуальность:</a:t>
            </a:r>
            <a:endParaRPr lang="ru-RU" dirty="0"/>
          </a:p>
          <a:p>
            <a:r>
              <a:rPr lang="ru-RU" dirty="0"/>
              <a:t>Аренда недвижимости — динамичный рынок</a:t>
            </a:r>
          </a:p>
          <a:p>
            <a:r>
              <a:rPr lang="ru-RU" dirty="0"/>
              <a:t>ИТ играют ключевую роль</a:t>
            </a:r>
          </a:p>
          <a:p>
            <a:r>
              <a:rPr lang="ru-RU" dirty="0"/>
              <a:t>Анализ существующих решений </a:t>
            </a:r>
            <a:r>
              <a:rPr lang="en-US" dirty="0"/>
              <a:t>,</a:t>
            </a:r>
            <a:r>
              <a:rPr lang="ru-RU" dirty="0"/>
              <a:t> выявление сильных/слабых сторон + трендов</a:t>
            </a:r>
          </a:p>
          <a:p>
            <a:pPr marL="0" indent="0">
              <a:buNone/>
            </a:pPr>
            <a:r>
              <a:rPr lang="ru-RU" b="1" dirty="0"/>
              <a:t>Цель главы:</a:t>
            </a:r>
          </a:p>
          <a:p>
            <a:r>
              <a:rPr lang="ru-RU" dirty="0"/>
              <a:t>Определить требования к новой системе «Аренда недвижимости»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07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F6514-E989-D902-F55F-54F1D189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Ключевые функции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AC20C-FFCA-03C6-36EB-921D98EC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Поиск и фильтрация (цена, локация, удобства)</a:t>
            </a:r>
          </a:p>
          <a:p>
            <a:r>
              <a:rPr lang="ru-RU" dirty="0"/>
              <a:t> Управление объявлениями + модерация</a:t>
            </a:r>
          </a:p>
          <a:p>
            <a:r>
              <a:rPr lang="ru-RU" dirty="0"/>
              <a:t> Интеграция с платежными системами</a:t>
            </a:r>
          </a:p>
          <a:p>
            <a:r>
              <a:rPr lang="ru-RU" dirty="0"/>
              <a:t>Отзывы и рейтинги</a:t>
            </a:r>
          </a:p>
          <a:p>
            <a:r>
              <a:rPr lang="ru-RU" dirty="0"/>
              <a:t> Коммуникация (мессенджер, уведомления)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99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B0799-31AA-D34C-2722-E34E8482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Дополнительные обязательные функции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FA3CDD-F2D9-1CA5-3D54-BA3D68DC9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 Аналитика (отчёты, мониторинг цен, доходность)</a:t>
            </a:r>
          </a:p>
          <a:p>
            <a:r>
              <a:rPr lang="ru-RU" dirty="0"/>
              <a:t> Мобильная адаптация (сайт / приложение)</a:t>
            </a:r>
          </a:p>
          <a:p>
            <a:r>
              <a:rPr lang="ru-RU" dirty="0"/>
              <a:t> Безопасность (шифрование, 2FA, мониторинг)</a:t>
            </a:r>
          </a:p>
          <a:p>
            <a:r>
              <a:rPr lang="ru-RU" dirty="0"/>
              <a:t>ИИ / ML для персонализации и автоматизации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132297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F78A1-0179-C3BA-B9F8-1CBDC687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Преимущества существующих систем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CD190F-A8BD-A2D5-CB1C-A50AC588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✅ Снижение транзакционных издержек</a:t>
            </a:r>
            <a:br>
              <a:rPr lang="ru-RU" dirty="0"/>
            </a:br>
            <a:r>
              <a:rPr lang="ru-RU" dirty="0"/>
              <a:t>✅ Эффект масштаба → ликвидность рынка</a:t>
            </a:r>
            <a:br>
              <a:rPr lang="ru-RU" dirty="0"/>
            </a:br>
            <a:r>
              <a:rPr lang="ru-RU" dirty="0"/>
              <a:t>✅ Прозрачность цен и условий</a:t>
            </a:r>
            <a:br>
              <a:rPr lang="ru-RU" dirty="0"/>
            </a:br>
            <a:r>
              <a:rPr lang="ru-RU" dirty="0"/>
              <a:t>✅ Стандартизация (шаблоны, чек-листы)</a:t>
            </a:r>
            <a:br>
              <a:rPr lang="ru-RU" dirty="0"/>
            </a:br>
            <a:r>
              <a:rPr lang="ru-RU" dirty="0"/>
              <a:t>✅ Эко системность (страховка, клининг, проверки)</a:t>
            </a:r>
            <a:br>
              <a:rPr lang="ru-RU" dirty="0"/>
            </a:br>
            <a:r>
              <a:rPr lang="ru-RU" dirty="0"/>
              <a:t>✅ Аналитика для собственников</a:t>
            </a:r>
          </a:p>
        </p:txBody>
      </p:sp>
    </p:spTree>
    <p:extLst>
      <p:ext uri="{BB962C8B-B14F-4D97-AF65-F5344CB8AC3E}">
        <p14:creationId xmlns:p14="http://schemas.microsoft.com/office/powerpoint/2010/main" val="402175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94205-8BE5-E181-AFD2-82EC033D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Недостатки существующих систем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A04BF-A084-5474-4119-76F8B264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❌ Высокая концентрация рынка → диктовка комиссий</a:t>
            </a:r>
            <a:br>
              <a:rPr lang="ru-RU" dirty="0"/>
            </a:br>
            <a:r>
              <a:rPr lang="ru-RU" dirty="0"/>
              <a:t>❌ Низкое качество данных (фейки, нет верификации)</a:t>
            </a:r>
            <a:br>
              <a:rPr lang="ru-RU" dirty="0"/>
            </a:br>
            <a:r>
              <a:rPr lang="ru-RU" dirty="0"/>
              <a:t>❌ Устаревшая монолитная архитектура → плохое масштабирование</a:t>
            </a:r>
            <a:br>
              <a:rPr lang="ru-RU" dirty="0"/>
            </a:br>
            <a:r>
              <a:rPr lang="ru-RU" dirty="0"/>
              <a:t>❌ Юридические риски (не адаптивность к локальным законам)</a:t>
            </a:r>
            <a:br>
              <a:rPr lang="ru-RU" dirty="0"/>
            </a:br>
            <a:r>
              <a:rPr lang="ru-RU" dirty="0"/>
              <a:t>❌ Утечки данных и недостаточная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71140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7DC9F-3B79-D863-DEF2-5BD18AF1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Проблемы доверия, споров и локализации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36B4CE-D3A6-DFEA-B047-D46FC07B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Отзывы накручиваются, алгоритмы непрозрачны</a:t>
            </a:r>
          </a:p>
          <a:p>
            <a:pPr marL="0" indent="0">
              <a:buNone/>
            </a:pPr>
            <a:r>
              <a:rPr lang="ru-RU" dirty="0"/>
              <a:t>Разрешение споров — долго и неоднозначно</a:t>
            </a:r>
          </a:p>
          <a:p>
            <a:pPr marL="0" indent="0">
              <a:buNone/>
            </a:pPr>
            <a:r>
              <a:rPr lang="ru-RU" dirty="0"/>
              <a:t>Плохая локализация (оплата, налоги, единицы измерения)</a:t>
            </a:r>
          </a:p>
          <a:p>
            <a:pPr marL="0" indent="0">
              <a:buNone/>
            </a:pPr>
            <a:r>
              <a:rPr lang="ru-RU" dirty="0"/>
              <a:t>Перегруженные интерфейсы → когнитивная нагрузка</a:t>
            </a:r>
          </a:p>
          <a:p>
            <a:pPr marL="0" indent="0">
              <a:buNone/>
            </a:pPr>
            <a:r>
              <a:rPr lang="ru-RU" dirty="0"/>
              <a:t> Зависимость от внешних API (платежи, карты)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822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2E34C6-85A2-035C-672F-5E7B40BD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Тенденция: Экосистемы + ИИ/ML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810A5-8A05-8D77-C89A-33C6DC66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1. Экосистемы через открытые API</a:t>
            </a:r>
          </a:p>
          <a:p>
            <a:r>
              <a:rPr lang="ru-RU" dirty="0"/>
              <a:t> Подключение страховки, клининга, проверок</a:t>
            </a:r>
          </a:p>
          <a:p>
            <a:pPr marL="0" indent="0">
              <a:buNone/>
            </a:pPr>
            <a:r>
              <a:rPr lang="ru-RU" b="1" dirty="0"/>
              <a:t>Машинное обучение</a:t>
            </a:r>
            <a:endParaRPr lang="ru-RU" dirty="0"/>
          </a:p>
          <a:p>
            <a:r>
              <a:rPr lang="ru-RU" dirty="0"/>
              <a:t>Динамическое ценообразование</a:t>
            </a:r>
          </a:p>
          <a:p>
            <a:r>
              <a:rPr lang="ru-RU" dirty="0"/>
              <a:t>Прогноз спроса</a:t>
            </a:r>
          </a:p>
          <a:p>
            <a:r>
              <a:rPr lang="ru-RU" dirty="0"/>
              <a:t>Риск невозврата депозита</a:t>
            </a:r>
          </a:p>
          <a:p>
            <a:r>
              <a:rPr lang="ru-RU" dirty="0"/>
              <a:t>Персонализации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76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829E5-F9BD-F090-B7D9-52F0700F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Тенденция: </a:t>
            </a:r>
            <a:r>
              <a:rPr lang="ru-RU" b="1" dirty="0" err="1"/>
              <a:t>IoT</a:t>
            </a:r>
            <a:r>
              <a:rPr lang="ru-RU" b="1" dirty="0"/>
              <a:t> + Цифровая верификация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683A9-B79F-2A35-F18F-2F1755E8F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 </a:t>
            </a:r>
            <a:r>
              <a:rPr lang="ru-RU" b="1" dirty="0" err="1"/>
              <a:t>IoT</a:t>
            </a:r>
            <a:r>
              <a:rPr lang="ru-RU" b="1" dirty="0"/>
              <a:t> (умные системы)</a:t>
            </a:r>
            <a:endParaRPr lang="ru-RU" dirty="0"/>
          </a:p>
          <a:p>
            <a:r>
              <a:rPr lang="ru-RU" dirty="0"/>
              <a:t>Контроль доступа, энергопотребления, аварий</a:t>
            </a:r>
          </a:p>
          <a:p>
            <a:r>
              <a:rPr lang="ru-RU" dirty="0"/>
              <a:t>Автоматизация приёма/сдачи</a:t>
            </a:r>
          </a:p>
          <a:p>
            <a:pPr marL="0" indent="0">
              <a:buNone/>
            </a:pPr>
            <a:r>
              <a:rPr lang="ru-RU" b="1" dirty="0"/>
              <a:t> Цифровая верификация</a:t>
            </a:r>
            <a:endParaRPr lang="ru-RU" dirty="0"/>
          </a:p>
          <a:p>
            <a:r>
              <a:rPr lang="ru-RU" dirty="0"/>
              <a:t>KYC/AML</a:t>
            </a:r>
          </a:p>
          <a:p>
            <a:r>
              <a:rPr lang="ru-RU" dirty="0"/>
              <a:t>Биометрия / цифровая подпись</a:t>
            </a:r>
          </a:p>
          <a:p>
            <a:r>
              <a:rPr lang="ru-RU" dirty="0"/>
              <a:t>Интеграция с госреестрами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491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9D504-B9E6-8252-612B-43DDB14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Тенденция: </a:t>
            </a:r>
            <a:r>
              <a:rPr lang="ru-RU" b="1" dirty="0" err="1"/>
              <a:t>Омниканальность</a:t>
            </a:r>
            <a:r>
              <a:rPr lang="ru-RU" b="1" dirty="0"/>
              <a:t> + </a:t>
            </a:r>
            <a:r>
              <a:rPr lang="ru-RU" b="1" dirty="0" err="1"/>
              <a:t>Регуляторика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B926E2-9959-4EFB-96BE-4C06FDCE6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Омниканальный UX</a:t>
            </a:r>
            <a:endParaRPr lang="ru-RU" dirty="0"/>
          </a:p>
          <a:p>
            <a:r>
              <a:rPr lang="ru-RU" dirty="0"/>
              <a:t>Веб + мобильный + голос + чат-боты</a:t>
            </a:r>
          </a:p>
          <a:p>
            <a:r>
              <a:rPr lang="ru-RU" dirty="0"/>
              <a:t>3D-туры, VR, дополненная реальность</a:t>
            </a:r>
          </a:p>
          <a:p>
            <a:pPr marL="0" indent="0">
              <a:buNone/>
            </a:pPr>
            <a:r>
              <a:rPr lang="ru-RU" b="1" dirty="0"/>
              <a:t>6. Регуляторная гибкость</a:t>
            </a:r>
            <a:endParaRPr lang="ru-RU" dirty="0"/>
          </a:p>
          <a:p>
            <a:r>
              <a:rPr lang="ru-RU" dirty="0"/>
              <a:t>Настройка под налоги и законы разных стран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6149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89207-3F36-1F25-CDF2-4ADA9B79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Технологические тренды и вызовы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ECB8F-1484-D207-32B2-A4AF8F77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Технологии:</a:t>
            </a:r>
            <a:endParaRPr lang="ru-RU" dirty="0"/>
          </a:p>
          <a:p>
            <a:r>
              <a:rPr lang="ru-RU" dirty="0"/>
              <a:t>Микросервисы, CI/CD, </a:t>
            </a:r>
            <a:r>
              <a:rPr lang="ru-RU" dirty="0" err="1"/>
              <a:t>serverless</a:t>
            </a:r>
            <a:endParaRPr lang="ru-RU" dirty="0"/>
          </a:p>
          <a:p>
            <a:r>
              <a:rPr lang="ru-RU" dirty="0"/>
              <a:t>Event-</a:t>
            </a:r>
            <a:r>
              <a:rPr lang="ru-RU" dirty="0" err="1"/>
              <a:t>driven</a:t>
            </a:r>
            <a:r>
              <a:rPr lang="ru-RU" dirty="0"/>
              <a:t>, очереди → масштабирование</a:t>
            </a:r>
          </a:p>
          <a:p>
            <a:pPr marL="0" indent="0">
              <a:buNone/>
            </a:pPr>
            <a:r>
              <a:rPr lang="ru-RU" b="1" dirty="0"/>
              <a:t>Вызовы:</a:t>
            </a:r>
            <a:endParaRPr lang="ru-RU" dirty="0"/>
          </a:p>
          <a:p>
            <a:r>
              <a:rPr lang="ru-RU" dirty="0"/>
              <a:t>ESG-фильтры (энергоэффективность)</a:t>
            </a:r>
          </a:p>
          <a:p>
            <a:r>
              <a:rPr lang="ru-RU" dirty="0"/>
              <a:t>Стандартизация данных и открытые API</a:t>
            </a:r>
          </a:p>
          <a:p>
            <a:r>
              <a:rPr lang="ru-RU" dirty="0"/>
              <a:t>Интероперабельность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557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8D118-0596-91EF-69F1-447F1F76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 Выводы по главе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48C6CE-2DB0-6A20-A9F5-D2DC92308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 разработке системы «Аренда недвижимости» необходимо:</a:t>
            </a:r>
          </a:p>
          <a:p>
            <a:pPr marL="0" indent="0">
              <a:buNone/>
            </a:pPr>
            <a:r>
              <a:rPr lang="ru-RU" dirty="0"/>
              <a:t>✔ Модульность и открытые API</a:t>
            </a:r>
            <a:br>
              <a:rPr lang="ru-RU" dirty="0"/>
            </a:br>
            <a:r>
              <a:rPr lang="ru-RU" dirty="0"/>
              <a:t>✔ Сильную аналитику и ML-модели</a:t>
            </a:r>
            <a:br>
              <a:rPr lang="ru-RU" dirty="0"/>
            </a:br>
            <a:r>
              <a:rPr lang="ru-RU" dirty="0"/>
              <a:t>✔ Встроенную модерацию и верификацию</a:t>
            </a:r>
            <a:br>
              <a:rPr lang="ru-RU" dirty="0"/>
            </a:br>
            <a:r>
              <a:rPr lang="ru-RU" dirty="0"/>
              <a:t>✔ Прозрачные механизмы разрешения споров</a:t>
            </a:r>
            <a:br>
              <a:rPr lang="ru-RU" dirty="0"/>
            </a:br>
            <a:r>
              <a:rPr lang="ru-RU" dirty="0"/>
              <a:t>✔ Гибкую настройку под локальные законы</a:t>
            </a:r>
            <a:br>
              <a:rPr lang="ru-RU" dirty="0"/>
            </a:br>
            <a:r>
              <a:rPr lang="ru-RU" dirty="0"/>
              <a:t>✔ Высокую безопасность </a:t>
            </a:r>
            <a:br>
              <a:rPr lang="ru-RU" dirty="0"/>
            </a:br>
            <a:r>
              <a:rPr lang="ru-RU" dirty="0"/>
              <a:t>Это обеспечит конкурентоспособность.</a:t>
            </a:r>
          </a:p>
        </p:txBody>
      </p:sp>
    </p:spTree>
    <p:extLst>
      <p:ext uri="{BB962C8B-B14F-4D97-AF65-F5344CB8AC3E}">
        <p14:creationId xmlns:p14="http://schemas.microsoft.com/office/powerpoint/2010/main" val="4251309852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16</TotalTime>
  <Words>452</Words>
  <Application>Microsoft Office PowerPoint</Application>
  <PresentationFormat>Широкоэкранный</PresentationFormat>
  <Paragraphs>64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Corbel</vt:lpstr>
      <vt:lpstr>Gill Sans MT</vt:lpstr>
      <vt:lpstr>Посылка</vt:lpstr>
      <vt:lpstr>Разработка Информационной системы «аренда недвижимости» глава 1</vt:lpstr>
      <vt:lpstr>Разработка Информационной системы «аренда недвижимости»</vt:lpstr>
      <vt:lpstr>Ключевые функции </vt:lpstr>
      <vt:lpstr>Дополнительные обязательные функции </vt:lpstr>
      <vt:lpstr>Преимущества существующих систем </vt:lpstr>
      <vt:lpstr> Недостатки существующих систем </vt:lpstr>
      <vt:lpstr>Проблемы доверия, споров и локализации </vt:lpstr>
      <vt:lpstr>Тенденция: Экосистемы + ИИ/ML </vt:lpstr>
      <vt:lpstr>Тенденция: IoT + Цифровая верификация </vt:lpstr>
      <vt:lpstr>Тенденция: Омниканальность + Регуляторика </vt:lpstr>
      <vt:lpstr>Технологические тренды и вызовы </vt:lpstr>
      <vt:lpstr> Выводы по главе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Magomedov</dc:creator>
  <cp:lastModifiedBy>Ali Magomedov</cp:lastModifiedBy>
  <cp:revision>1</cp:revision>
  <dcterms:created xsi:type="dcterms:W3CDTF">2026-04-16T16:27:36Z</dcterms:created>
  <dcterms:modified xsi:type="dcterms:W3CDTF">2026-04-16T16:44:24Z</dcterms:modified>
</cp:coreProperties>
</file>